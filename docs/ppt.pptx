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4"/>
    <p:sldId id="258" r:id="rId5"/>
    <p:sldId id="266" r:id="rId6"/>
    <p:sldId id="260" r:id="rId7"/>
    <p:sldId id="259" r:id="rId8"/>
    <p:sldId id="264" r:id="rId9"/>
    <p:sldId id="265" r:id="rId10"/>
    <p:sldId id="262" r:id="rId11"/>
    <p:sldId id="263" r:id="rId12"/>
    <p:sldId id="26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DC38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41"/>
    <p:restoredTop sz="94715"/>
  </p:normalViewPr>
  <p:slideViewPr>
    <p:cSldViewPr snapToGrid="0" snapToObjects="1">
      <p:cViewPr varScale="1">
        <p:scale>
          <a:sx n="122" d="100"/>
          <a:sy n="122" d="100"/>
        </p:scale>
        <p:origin x="624"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44ADA6-168F-0C47-975C-76397C193B5E}"/>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C18708D4-4379-5A45-A1E2-4A4CA2B29A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83BAD83D-31DA-4048-AC80-E27FA1B8DD94}"/>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5" name="Footer Placeholder 4">
            <a:extLst>
              <a:ext uri="{FF2B5EF4-FFF2-40B4-BE49-F238E27FC236}">
                <a16:creationId xmlns:a16="http://schemas.microsoft.com/office/drawing/2014/main" id="{1F7AEB4B-701B-2C44-9FDB-37A32C897F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CDB3F-D2F8-304F-BBB7-539C0F501909}"/>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7494116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D17FE8-553D-E349-9C55-D94BB58B6C1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9FC3A4D2-4EB9-1340-9BEC-71559F2E855B}"/>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8BD0BB91-BE32-8445-A61B-1BB02BCC1E47}"/>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5" name="Footer Placeholder 4">
            <a:extLst>
              <a:ext uri="{FF2B5EF4-FFF2-40B4-BE49-F238E27FC236}">
                <a16:creationId xmlns:a16="http://schemas.microsoft.com/office/drawing/2014/main" id="{B3DE0DE4-3D03-264A-90BE-747FBC55CB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623DED-C16A-DF4D-92BD-B4BB00CA115F}"/>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1915323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C08AB2-07E6-254C-B542-0EE8D997A238}"/>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608AB9B7-F1CE-DB48-BCFD-C7627272FB0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CA4DEB15-E787-7845-B085-05E93B0DE25C}"/>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5" name="Footer Placeholder 4">
            <a:extLst>
              <a:ext uri="{FF2B5EF4-FFF2-40B4-BE49-F238E27FC236}">
                <a16:creationId xmlns:a16="http://schemas.microsoft.com/office/drawing/2014/main" id="{7D60FC28-4A1F-4F4D-B4EF-94E36E8A31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DFFA99-7425-CE46-9D56-2CC4204BBD80}"/>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25911896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750C2-5BDB-9F4D-8589-4E5A28A662EA}"/>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300F8A9D-CB3E-AF4A-A75E-6F5858A8023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0A602A05-8BB7-564A-9E5A-62220AB81F3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9B79059E-104D-8042-9EF8-A2807DA85372}"/>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6" name="Footer Placeholder 5">
            <a:extLst>
              <a:ext uri="{FF2B5EF4-FFF2-40B4-BE49-F238E27FC236}">
                <a16:creationId xmlns:a16="http://schemas.microsoft.com/office/drawing/2014/main" id="{7B7EF9CE-38AB-B74A-A49E-FB795C83F7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16F3164-9746-2543-86FF-45E4723C80A2}"/>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1720108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15FB1-F0E9-4D4C-A59F-B5395DACB22F}"/>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E7288379-181A-0D40-96C0-25C260FD79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3C4522FC-2EDD-EE4D-AB3C-BE3B026972A4}"/>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7C81D28C-60D3-7A49-95B9-B588DBA0640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C0659C3E-EF69-D149-A5F9-F2FB6A8F76B0}"/>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A3597AAC-76A2-C64A-AD29-DF84A950B732}"/>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8" name="Footer Placeholder 7">
            <a:extLst>
              <a:ext uri="{FF2B5EF4-FFF2-40B4-BE49-F238E27FC236}">
                <a16:creationId xmlns:a16="http://schemas.microsoft.com/office/drawing/2014/main" id="{FA398365-86E7-2649-91AA-B2473F464F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C18021D-739C-8A45-BFDD-A62F6D4879E6}"/>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37426865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47B26D-F37C-7C4E-8CCA-05D3512ECB61}"/>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D1321675-793D-3446-B35B-2B968800FF74}"/>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4" name="Footer Placeholder 3">
            <a:extLst>
              <a:ext uri="{FF2B5EF4-FFF2-40B4-BE49-F238E27FC236}">
                <a16:creationId xmlns:a16="http://schemas.microsoft.com/office/drawing/2014/main" id="{3BC9646A-348C-814C-B496-4FA880C83BC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93F9D7C-692F-8744-B9E5-0331FF60F246}"/>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15188458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E9A4A34-6AC8-3747-A4F5-693EBABBA2E0}"/>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3" name="Footer Placeholder 2">
            <a:extLst>
              <a:ext uri="{FF2B5EF4-FFF2-40B4-BE49-F238E27FC236}">
                <a16:creationId xmlns:a16="http://schemas.microsoft.com/office/drawing/2014/main" id="{8E352932-CB7F-E542-996A-4D65583DF3A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579E634-92ED-1F49-8329-55D51E4C267B}"/>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25418339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98DC3E-5658-5C41-9195-F5BA5243E4B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6947D75A-F256-074A-818D-DF82264393E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E93F94BB-FAF6-AB43-A50C-EB13DE5292D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699028C-9C63-D24D-A731-BF5DE9C6D169}"/>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6" name="Footer Placeholder 5">
            <a:extLst>
              <a:ext uri="{FF2B5EF4-FFF2-40B4-BE49-F238E27FC236}">
                <a16:creationId xmlns:a16="http://schemas.microsoft.com/office/drawing/2014/main" id="{CA70142D-28E9-AE4B-8514-828F8E2134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997AB7F-DFB8-C747-AB59-04C81C09DD93}"/>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13972676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B5858-A3A2-A944-A15A-D04A1F7DD846}"/>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6C45FE09-DB16-5B4A-A09A-A04A1B3BBF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63F4C13F-7866-7A46-B4A8-875BE21D844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F49C51C-F4A7-214E-B0D7-963D7A8DE0A3}"/>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6" name="Footer Placeholder 5">
            <a:extLst>
              <a:ext uri="{FF2B5EF4-FFF2-40B4-BE49-F238E27FC236}">
                <a16:creationId xmlns:a16="http://schemas.microsoft.com/office/drawing/2014/main" id="{6794586A-BD43-EB44-AF04-F34F994A7F8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C7B1E7-1994-454A-B412-0E62BEC4E66D}"/>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10558682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8A7BA-CF48-4E42-AD34-14C871757124}"/>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E22CC4C9-5C0C-C54D-BEE4-3C1A130F1BD8}"/>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19E9651-D635-8940-871B-E0E4E3A41087}"/>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5" name="Footer Placeholder 4">
            <a:extLst>
              <a:ext uri="{FF2B5EF4-FFF2-40B4-BE49-F238E27FC236}">
                <a16:creationId xmlns:a16="http://schemas.microsoft.com/office/drawing/2014/main" id="{281A1666-E8E6-E742-97EF-59F855202A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868B386-CE75-204F-ABA5-17DE4659B032}"/>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199670746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63CC50E-B7F9-D948-98B9-7BE2390824CE}"/>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7C3A2279-93B4-C446-8AD6-BB6A220B6E6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786CB11E-969F-6648-BF59-25E6DAFA0C7E}"/>
              </a:ext>
            </a:extLst>
          </p:cNvPr>
          <p:cNvSpPr>
            <a:spLocks noGrp="1"/>
          </p:cNvSpPr>
          <p:nvPr>
            <p:ph type="dt" sz="half" idx="10"/>
          </p:nvPr>
        </p:nvSpPr>
        <p:spPr/>
        <p:txBody>
          <a:bodyPr/>
          <a:lstStyle/>
          <a:p>
            <a:fld id="{AFC79A1F-AE2C-3B48-8E06-2EEB1511B4E3}" type="datetimeFigureOut">
              <a:rPr lang="en-US" smtClean="0"/>
              <a:t>8/10/20</a:t>
            </a:fld>
            <a:endParaRPr lang="en-US"/>
          </a:p>
        </p:txBody>
      </p:sp>
      <p:sp>
        <p:nvSpPr>
          <p:cNvPr id="5" name="Footer Placeholder 4">
            <a:extLst>
              <a:ext uri="{FF2B5EF4-FFF2-40B4-BE49-F238E27FC236}">
                <a16:creationId xmlns:a16="http://schemas.microsoft.com/office/drawing/2014/main" id="{4369485C-55F2-1D43-94A5-01054039A1F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A5B17D-4C5B-5C41-98E1-9A432AD1D371}"/>
              </a:ext>
            </a:extLst>
          </p:cNvPr>
          <p:cNvSpPr>
            <a:spLocks noGrp="1"/>
          </p:cNvSpPr>
          <p:nvPr>
            <p:ph type="sldNum" sz="quarter" idx="12"/>
          </p:nvPr>
        </p:nvSpPr>
        <p:spPr/>
        <p:txBody>
          <a:bodyPr/>
          <a:lstStyle/>
          <a:p>
            <a:fld id="{DC81130B-39F9-BB48-9E79-7712A450A406}" type="slidenum">
              <a:rPr lang="en-US" smtClean="0"/>
              <a:t>‹#›</a:t>
            </a:fld>
            <a:endParaRPr lang="en-US"/>
          </a:p>
        </p:txBody>
      </p:sp>
    </p:spTree>
    <p:extLst>
      <p:ext uri="{BB962C8B-B14F-4D97-AF65-F5344CB8AC3E}">
        <p14:creationId xmlns:p14="http://schemas.microsoft.com/office/powerpoint/2010/main" val="24222380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A95F3D8-F9A9-E84F-A32F-5F0230BE27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B3CDCEEE-6D7B-C44B-BB2E-C9A97E35E4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4C14AD3-0378-CE42-A6C7-3C261A6E9AC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FC79A1F-AE2C-3B48-8E06-2EEB1511B4E3}" type="datetimeFigureOut">
              <a:rPr lang="en-US" smtClean="0"/>
              <a:t>8/10/20</a:t>
            </a:fld>
            <a:endParaRPr lang="en-US"/>
          </a:p>
        </p:txBody>
      </p:sp>
      <p:sp>
        <p:nvSpPr>
          <p:cNvPr id="5" name="Footer Placeholder 4">
            <a:extLst>
              <a:ext uri="{FF2B5EF4-FFF2-40B4-BE49-F238E27FC236}">
                <a16:creationId xmlns:a16="http://schemas.microsoft.com/office/drawing/2014/main" id="{77B763D4-7256-CD48-9407-424DEB1BB1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3B125FF-CC5A-F34E-AFF4-17799A56EA5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C81130B-39F9-BB48-9E79-7712A450A406}" type="slidenum">
              <a:rPr lang="en-US" smtClean="0"/>
              <a:t>‹#›</a:t>
            </a:fld>
            <a:endParaRPr lang="en-US"/>
          </a:p>
        </p:txBody>
      </p:sp>
    </p:spTree>
    <p:extLst>
      <p:ext uri="{BB962C8B-B14F-4D97-AF65-F5344CB8AC3E}">
        <p14:creationId xmlns:p14="http://schemas.microsoft.com/office/powerpoint/2010/main" val="38973966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0AB225BA-7412-4605-8E8D-5AED2BF56A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Picture 4">
            <a:extLst>
              <a:ext uri="{FF2B5EF4-FFF2-40B4-BE49-F238E27FC236}">
                <a16:creationId xmlns:a16="http://schemas.microsoft.com/office/drawing/2014/main" id="{8C19E327-7702-4F5D-B325-B66D570425BE}"/>
              </a:ext>
            </a:extLst>
          </p:cNvPr>
          <p:cNvPicPr>
            <a:picLocks noChangeAspect="1"/>
          </p:cNvPicPr>
          <p:nvPr/>
        </p:nvPicPr>
        <p:blipFill rotWithShape="1">
          <a:blip r:embed="rId2"/>
          <a:srcRect t="17353" b="26397"/>
          <a:stretch/>
        </p:blipFill>
        <p:spPr>
          <a:xfrm>
            <a:off x="20" y="1"/>
            <a:ext cx="12191980" cy="6857999"/>
          </a:xfrm>
          <a:prstGeom prst="rect">
            <a:avLst/>
          </a:prstGeom>
        </p:spPr>
      </p:pic>
      <p:sp>
        <p:nvSpPr>
          <p:cNvPr id="28" name="Rectangle 27">
            <a:extLst>
              <a:ext uri="{FF2B5EF4-FFF2-40B4-BE49-F238E27FC236}">
                <a16:creationId xmlns:a16="http://schemas.microsoft.com/office/drawing/2014/main" id="{604BB9CD-970D-4FE5-B4E3-D651735BF4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blipFill dpi="0" rotWithShape="1">
            <a:blip r:embed="rId3">
              <a:alphaModFix amt="27000"/>
              <a:duotone>
                <a:schemeClr val="accent1">
                  <a:shade val="45000"/>
                  <a:satMod val="135000"/>
                </a:schemeClr>
                <a:prstClr val="white"/>
              </a:duotone>
              <a:extLst>
                <a:ext uri="{BEBA8EAE-BF5A-486C-A8C5-ECC9F3942E4B}">
                  <a14:imgProps xmlns:a14="http://schemas.microsoft.com/office/drawing/2010/main">
                    <a14:imgLayer r:embed="rId4">
                      <a14:imgEffect>
                        <a14:sharpenSoften amount="25000"/>
                      </a14:imgEffect>
                      <a14:imgEffect>
                        <a14:brightnessContrast bright="20000" contrast="20000"/>
                      </a14:imgEffect>
                    </a14:imgLayer>
                  </a14:imgProps>
                </a:ext>
                <a:ext uri="{28A0092B-C50C-407E-A947-70E740481C1C}">
                  <a14:useLocalDpi xmlns:a14="http://schemas.microsoft.com/office/drawing/2010/main" val="0"/>
                </a:ext>
              </a:extLst>
            </a:blip>
            <a:srcRect/>
            <a:tile tx="0" ty="-254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86E4B34-2675-824B-A860-CD5E8F877C8B}"/>
              </a:ext>
            </a:extLst>
          </p:cNvPr>
          <p:cNvSpPr>
            <a:spLocks noGrp="1"/>
          </p:cNvSpPr>
          <p:nvPr>
            <p:ph type="ctrTitle"/>
          </p:nvPr>
        </p:nvSpPr>
        <p:spPr>
          <a:xfrm>
            <a:off x="1112520" y="2152955"/>
            <a:ext cx="9966960" cy="2552091"/>
          </a:xfrm>
        </p:spPr>
        <p:txBody>
          <a:bodyPr anchor="ctr">
            <a:normAutofit/>
          </a:bodyPr>
          <a:lstStyle/>
          <a:p>
            <a:r>
              <a:rPr lang="en-US" sz="8000" b="1" dirty="0">
                <a:solidFill>
                  <a:srgbClr val="FFFFFF"/>
                </a:solidFill>
                <a:latin typeface="Andale Mono" panose="020B0509000000000004" pitchFamily="49" charset="0"/>
                <a:cs typeface="Al Bayan Plain" pitchFamily="2" charset="-78"/>
              </a:rPr>
              <a:t>YOUR THRIFT CO. </a:t>
            </a:r>
          </a:p>
        </p:txBody>
      </p:sp>
      <p:sp>
        <p:nvSpPr>
          <p:cNvPr id="3" name="Subtitle 2">
            <a:extLst>
              <a:ext uri="{FF2B5EF4-FFF2-40B4-BE49-F238E27FC236}">
                <a16:creationId xmlns:a16="http://schemas.microsoft.com/office/drawing/2014/main" id="{1CB5B73A-39F3-1448-A04B-828B38FCC0AA}"/>
              </a:ext>
            </a:extLst>
          </p:cNvPr>
          <p:cNvSpPr>
            <a:spLocks noGrp="1"/>
          </p:cNvSpPr>
          <p:nvPr>
            <p:ph type="subTitle" idx="1"/>
          </p:nvPr>
        </p:nvSpPr>
        <p:spPr>
          <a:xfrm>
            <a:off x="2150364" y="5342072"/>
            <a:ext cx="7891272" cy="707465"/>
          </a:xfrm>
          <a:ln>
            <a:noFill/>
          </a:ln>
        </p:spPr>
        <p:txBody>
          <a:bodyPr>
            <a:normAutofit/>
          </a:bodyPr>
          <a:lstStyle/>
          <a:p>
            <a:r>
              <a:rPr lang="en-US" dirty="0">
                <a:solidFill>
                  <a:srgbClr val="FFFFFF"/>
                </a:solidFill>
              </a:rPr>
              <a:t>Shelby El-rassi</a:t>
            </a:r>
          </a:p>
        </p:txBody>
      </p:sp>
      <p:sp>
        <p:nvSpPr>
          <p:cNvPr id="30" name="Rectangle 29">
            <a:extLst>
              <a:ext uri="{FF2B5EF4-FFF2-40B4-BE49-F238E27FC236}">
                <a16:creationId xmlns:a16="http://schemas.microsoft.com/office/drawing/2014/main" id="{5E0D6276-8D53-4DDA-A15A-90E0831F6D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1955749"/>
            <a:ext cx="10222992" cy="80683"/>
          </a:xfrm>
          <a:prstGeom prst="rect">
            <a:avLst/>
          </a:prstGeom>
          <a:blipFill dpi="0" rotWithShape="1">
            <a:blip r:embed="rId5">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00C150C7-96FB-4EB9-BDF9-212535A608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808342"/>
            <a:ext cx="10222992" cy="80683"/>
          </a:xfrm>
          <a:prstGeom prst="rect">
            <a:avLst/>
          </a:prstGeom>
          <a:blipFill dpi="0" rotWithShape="1">
            <a:blip r:embed="rId5">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6720303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sp>
        <p:nvSpPr>
          <p:cNvPr id="6" name="Title 1">
            <a:extLst>
              <a:ext uri="{FF2B5EF4-FFF2-40B4-BE49-F238E27FC236}">
                <a16:creationId xmlns:a16="http://schemas.microsoft.com/office/drawing/2014/main" id="{66D7E579-E422-7048-ADCC-2454BBBEC6F8}"/>
              </a:ext>
            </a:extLst>
          </p:cNvPr>
          <p:cNvSpPr>
            <a:spLocks noGrp="1"/>
          </p:cNvSpPr>
          <p:nvPr>
            <p:ph type="title"/>
          </p:nvPr>
        </p:nvSpPr>
        <p:spPr>
          <a:xfrm>
            <a:off x="838200" y="365125"/>
            <a:ext cx="10515600" cy="1325563"/>
          </a:xfrm>
        </p:spPr>
        <p:txBody>
          <a:bodyPr/>
          <a:lstStyle/>
          <a:p>
            <a:pPr algn="ctr"/>
            <a:r>
              <a:rPr lang="en-US" dirty="0">
                <a:latin typeface="Abril Fatface" panose="02000503000000020003" pitchFamily="2" charset="77"/>
              </a:rPr>
              <a:t>WHY?</a:t>
            </a:r>
          </a:p>
        </p:txBody>
      </p:sp>
      <p:sp>
        <p:nvSpPr>
          <p:cNvPr id="7" name="Content Placeholder 2">
            <a:extLst>
              <a:ext uri="{FF2B5EF4-FFF2-40B4-BE49-F238E27FC236}">
                <a16:creationId xmlns:a16="http://schemas.microsoft.com/office/drawing/2014/main" id="{7D515B86-3373-C746-9DC9-324AE57C1D59}"/>
              </a:ext>
            </a:extLst>
          </p:cNvPr>
          <p:cNvSpPr>
            <a:spLocks noGrp="1"/>
          </p:cNvSpPr>
          <p:nvPr>
            <p:ph idx="1"/>
          </p:nvPr>
        </p:nvSpPr>
        <p:spPr>
          <a:xfrm>
            <a:off x="838200" y="1825625"/>
            <a:ext cx="10515600" cy="4667250"/>
          </a:xfrm>
        </p:spPr>
        <p:txBody>
          <a:bodyPr>
            <a:noAutofit/>
          </a:bodyPr>
          <a:lstStyle/>
          <a:p>
            <a:r>
              <a:rPr lang="en-AU" sz="2000" dirty="0"/>
              <a:t>Sustainability and Ethical focused fashion</a:t>
            </a:r>
          </a:p>
          <a:p>
            <a:r>
              <a:rPr lang="en-AU" sz="2000" dirty="0"/>
              <a:t>The growing popularity of pre-loved items</a:t>
            </a:r>
          </a:p>
          <a:p>
            <a:r>
              <a:rPr lang="en-AU" sz="2000" dirty="0"/>
              <a:t>Affordability.</a:t>
            </a:r>
          </a:p>
          <a:p>
            <a:r>
              <a:rPr lang="en-AU" sz="2000" dirty="0"/>
              <a:t>A gap in the Australian online second-hand marketplace.</a:t>
            </a:r>
          </a:p>
          <a:p>
            <a:r>
              <a:rPr lang="en-AU" sz="2000" dirty="0"/>
              <a:t>A way to connect based on fashion. </a:t>
            </a:r>
          </a:p>
          <a:p>
            <a:r>
              <a:rPr lang="en-AU" sz="2000" dirty="0"/>
              <a:t>Users setting their own trends.</a:t>
            </a:r>
          </a:p>
          <a:p>
            <a:r>
              <a:rPr lang="en-AU" sz="2000" dirty="0"/>
              <a:t>Reuse, reduce, recycle.</a:t>
            </a:r>
          </a:p>
          <a:p>
            <a:r>
              <a:rPr lang="en-AU" sz="2000" dirty="0"/>
              <a:t>‘Bedroom Entrepreneurs’- Some Users will operate with the intention of having just a closet clear out, other Users can operate the platform as a form of online business.</a:t>
            </a:r>
          </a:p>
          <a:p>
            <a:r>
              <a:rPr lang="en-AU" sz="2000" dirty="0"/>
              <a:t>Users wanting to change up their wardrobes more efficiently.</a:t>
            </a:r>
          </a:p>
          <a:p>
            <a:endParaRPr lang="en-AU" sz="2000" dirty="0"/>
          </a:p>
          <a:p>
            <a:endParaRPr lang="en-AU" sz="2000" dirty="0"/>
          </a:p>
          <a:p>
            <a:endParaRPr lang="en-US" sz="2000" dirty="0"/>
          </a:p>
        </p:txBody>
      </p:sp>
    </p:spTree>
    <p:extLst>
      <p:ext uri="{BB962C8B-B14F-4D97-AF65-F5344CB8AC3E}">
        <p14:creationId xmlns:p14="http://schemas.microsoft.com/office/powerpoint/2010/main" val="1210155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sp>
        <p:nvSpPr>
          <p:cNvPr id="6" name="Title 1">
            <a:extLst>
              <a:ext uri="{FF2B5EF4-FFF2-40B4-BE49-F238E27FC236}">
                <a16:creationId xmlns:a16="http://schemas.microsoft.com/office/drawing/2014/main" id="{66D7E579-E422-7048-ADCC-2454BBBEC6F8}"/>
              </a:ext>
            </a:extLst>
          </p:cNvPr>
          <p:cNvSpPr>
            <a:spLocks noGrp="1"/>
          </p:cNvSpPr>
          <p:nvPr>
            <p:ph type="title"/>
          </p:nvPr>
        </p:nvSpPr>
        <p:spPr>
          <a:xfrm>
            <a:off x="838200" y="365125"/>
            <a:ext cx="10515600" cy="1325563"/>
          </a:xfrm>
        </p:spPr>
        <p:txBody>
          <a:bodyPr/>
          <a:lstStyle/>
          <a:p>
            <a:pPr algn="ctr"/>
            <a:r>
              <a:rPr lang="en-US" dirty="0">
                <a:latin typeface="Abril Fatface" panose="02000503000000020003" pitchFamily="2" charset="77"/>
                <a:cs typeface="Abadi" panose="020F0502020204030204" pitchFamily="34" charset="0"/>
              </a:rPr>
              <a:t>HOW?</a:t>
            </a:r>
          </a:p>
        </p:txBody>
      </p:sp>
      <p:sp>
        <p:nvSpPr>
          <p:cNvPr id="7" name="Content Placeholder 2">
            <a:extLst>
              <a:ext uri="{FF2B5EF4-FFF2-40B4-BE49-F238E27FC236}">
                <a16:creationId xmlns:a16="http://schemas.microsoft.com/office/drawing/2014/main" id="{7D515B86-3373-C746-9DC9-324AE57C1D59}"/>
              </a:ext>
            </a:extLst>
          </p:cNvPr>
          <p:cNvSpPr>
            <a:spLocks noGrp="1"/>
          </p:cNvSpPr>
          <p:nvPr>
            <p:ph idx="1"/>
          </p:nvPr>
        </p:nvSpPr>
        <p:spPr>
          <a:xfrm>
            <a:off x="838200" y="1825625"/>
            <a:ext cx="10515600" cy="4351338"/>
          </a:xfrm>
        </p:spPr>
        <p:txBody>
          <a:bodyPr/>
          <a:lstStyle/>
          <a:p>
            <a:r>
              <a:rPr lang="en-AU" dirty="0"/>
              <a:t>Online thrift/pre-loved/second-hand clothing platform.</a:t>
            </a:r>
          </a:p>
          <a:p>
            <a:r>
              <a:rPr lang="en-AU" dirty="0"/>
              <a:t>Australian Started Online Second-Hand Marketplace</a:t>
            </a:r>
          </a:p>
          <a:p>
            <a:r>
              <a:rPr lang="en-AU" dirty="0"/>
              <a:t>The initial application is set up directed at Women as that is the market thrift shopping is more popular in, however if the application were to be as successful as planned, expanding to the Male market would be in future. </a:t>
            </a:r>
          </a:p>
          <a:p>
            <a:r>
              <a:rPr lang="en-AU" dirty="0"/>
              <a:t>Future Fashion Social Media Type – Future ability for the application to enable comments, likes, follow users etc.</a:t>
            </a:r>
          </a:p>
          <a:p>
            <a:endParaRPr lang="en-AU" dirty="0"/>
          </a:p>
          <a:p>
            <a:endParaRPr lang="en-AU" dirty="0"/>
          </a:p>
          <a:p>
            <a:endParaRPr lang="en-AU" dirty="0"/>
          </a:p>
          <a:p>
            <a:endParaRPr lang="en-AU" dirty="0"/>
          </a:p>
          <a:p>
            <a:endParaRPr lang="en-US" dirty="0"/>
          </a:p>
        </p:txBody>
      </p:sp>
    </p:spTree>
    <p:extLst>
      <p:ext uri="{BB962C8B-B14F-4D97-AF65-F5344CB8AC3E}">
        <p14:creationId xmlns:p14="http://schemas.microsoft.com/office/powerpoint/2010/main" val="36098568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8" name="Picture 7" descr="A close up of a map&#10;&#10;Description automatically generated">
            <a:extLst>
              <a:ext uri="{FF2B5EF4-FFF2-40B4-BE49-F238E27FC236}">
                <a16:creationId xmlns:a16="http://schemas.microsoft.com/office/drawing/2014/main" id="{56BA0114-3EB4-8D4D-8BFC-F5F08CAAD861}"/>
              </a:ext>
            </a:extLst>
          </p:cNvPr>
          <p:cNvPicPr>
            <a:picLocks noChangeAspect="1"/>
          </p:cNvPicPr>
          <p:nvPr/>
        </p:nvPicPr>
        <p:blipFill>
          <a:blip r:embed="rId3"/>
          <a:stretch>
            <a:fillRect/>
          </a:stretch>
        </p:blipFill>
        <p:spPr>
          <a:xfrm>
            <a:off x="2677273" y="260297"/>
            <a:ext cx="8855440" cy="6337406"/>
          </a:xfrm>
          <a:prstGeom prst="rect">
            <a:avLst/>
          </a:prstGeom>
          <a:ln>
            <a:solidFill>
              <a:schemeClr val="tx1"/>
            </a:solidFill>
          </a:ln>
        </p:spPr>
      </p:pic>
      <p:sp>
        <p:nvSpPr>
          <p:cNvPr id="9" name="Title 1">
            <a:extLst>
              <a:ext uri="{FF2B5EF4-FFF2-40B4-BE49-F238E27FC236}">
                <a16:creationId xmlns:a16="http://schemas.microsoft.com/office/drawing/2014/main" id="{90A14677-89EF-9F4A-88C9-58FFF0567EE5}"/>
              </a:ext>
            </a:extLst>
          </p:cNvPr>
          <p:cNvSpPr>
            <a:spLocks noGrp="1"/>
          </p:cNvSpPr>
          <p:nvPr>
            <p:ph type="title"/>
          </p:nvPr>
        </p:nvSpPr>
        <p:spPr>
          <a:xfrm>
            <a:off x="220362" y="2960044"/>
            <a:ext cx="2720546" cy="1325563"/>
          </a:xfrm>
        </p:spPr>
        <p:txBody>
          <a:bodyPr/>
          <a:lstStyle/>
          <a:p>
            <a:pPr algn="ctr"/>
            <a:r>
              <a:rPr lang="en-US" dirty="0">
                <a:latin typeface="Abril Fatface" panose="02000503000000020003" pitchFamily="2" charset="77"/>
              </a:rPr>
              <a:t>ERD</a:t>
            </a:r>
          </a:p>
        </p:txBody>
      </p:sp>
    </p:spTree>
    <p:extLst>
      <p:ext uri="{BB962C8B-B14F-4D97-AF65-F5344CB8AC3E}">
        <p14:creationId xmlns:p14="http://schemas.microsoft.com/office/powerpoint/2010/main" val="77333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8" name="Picture 7" descr="A picture containing room&#10;&#10;Description automatically generated">
            <a:extLst>
              <a:ext uri="{FF2B5EF4-FFF2-40B4-BE49-F238E27FC236}">
                <a16:creationId xmlns:a16="http://schemas.microsoft.com/office/drawing/2014/main" id="{97E771E0-7FBE-BF4D-8AFE-11BE6D9E28FF}"/>
              </a:ext>
            </a:extLst>
          </p:cNvPr>
          <p:cNvPicPr>
            <a:picLocks noChangeAspect="1"/>
          </p:cNvPicPr>
          <p:nvPr/>
        </p:nvPicPr>
        <p:blipFill>
          <a:blip r:embed="rId3"/>
          <a:stretch>
            <a:fillRect/>
          </a:stretch>
        </p:blipFill>
        <p:spPr>
          <a:xfrm>
            <a:off x="3255734" y="105104"/>
            <a:ext cx="8168577" cy="6500648"/>
          </a:xfrm>
          <a:prstGeom prst="rect">
            <a:avLst/>
          </a:prstGeom>
          <a:ln>
            <a:solidFill>
              <a:schemeClr val="tx1"/>
            </a:solidFill>
          </a:ln>
        </p:spPr>
      </p:pic>
      <p:sp>
        <p:nvSpPr>
          <p:cNvPr id="9" name="Title 1">
            <a:extLst>
              <a:ext uri="{FF2B5EF4-FFF2-40B4-BE49-F238E27FC236}">
                <a16:creationId xmlns:a16="http://schemas.microsoft.com/office/drawing/2014/main" id="{E40BD7DC-091B-CE45-AA0B-292508C027B1}"/>
              </a:ext>
            </a:extLst>
          </p:cNvPr>
          <p:cNvSpPr>
            <a:spLocks noGrp="1"/>
          </p:cNvSpPr>
          <p:nvPr>
            <p:ph type="title"/>
          </p:nvPr>
        </p:nvSpPr>
        <p:spPr>
          <a:xfrm>
            <a:off x="220362" y="2960044"/>
            <a:ext cx="2720546" cy="1325563"/>
          </a:xfrm>
        </p:spPr>
        <p:txBody>
          <a:bodyPr/>
          <a:lstStyle/>
          <a:p>
            <a:pPr algn="ctr"/>
            <a:r>
              <a:rPr lang="en-US" dirty="0">
                <a:latin typeface="Abril Fatface" panose="02000503000000020003" pitchFamily="2" charset="77"/>
              </a:rPr>
              <a:t>SITEMAP</a:t>
            </a:r>
          </a:p>
        </p:txBody>
      </p:sp>
    </p:spTree>
    <p:extLst>
      <p:ext uri="{BB962C8B-B14F-4D97-AF65-F5344CB8AC3E}">
        <p14:creationId xmlns:p14="http://schemas.microsoft.com/office/powerpoint/2010/main" val="1633089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4" name="Picture 3" descr="A screenshot of text&#10;&#10;Description automatically generated">
            <a:extLst>
              <a:ext uri="{FF2B5EF4-FFF2-40B4-BE49-F238E27FC236}">
                <a16:creationId xmlns:a16="http://schemas.microsoft.com/office/drawing/2014/main" id="{361ED136-BBCC-EC4D-840C-8F1E4CAA0DC2}"/>
              </a:ext>
            </a:extLst>
          </p:cNvPr>
          <p:cNvPicPr>
            <a:picLocks noChangeAspect="1"/>
          </p:cNvPicPr>
          <p:nvPr/>
        </p:nvPicPr>
        <p:blipFill>
          <a:blip r:embed="rId3"/>
          <a:stretch>
            <a:fillRect/>
          </a:stretch>
        </p:blipFill>
        <p:spPr>
          <a:xfrm>
            <a:off x="707772" y="203286"/>
            <a:ext cx="4983147" cy="6289589"/>
          </a:xfrm>
          <a:prstGeom prst="rect">
            <a:avLst/>
          </a:prstGeom>
        </p:spPr>
      </p:pic>
      <p:sp>
        <p:nvSpPr>
          <p:cNvPr id="7" name="Title 1">
            <a:extLst>
              <a:ext uri="{FF2B5EF4-FFF2-40B4-BE49-F238E27FC236}">
                <a16:creationId xmlns:a16="http://schemas.microsoft.com/office/drawing/2014/main" id="{7406FE3B-403D-CD49-9DD0-77DD34760ADA}"/>
              </a:ext>
            </a:extLst>
          </p:cNvPr>
          <p:cNvSpPr txBox="1">
            <a:spLocks/>
          </p:cNvSpPr>
          <p:nvPr/>
        </p:nvSpPr>
        <p:spPr>
          <a:xfrm>
            <a:off x="7744178" y="2822041"/>
            <a:ext cx="2720546"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latin typeface="Abril Fatface" panose="02000503000000020003" pitchFamily="2" charset="77"/>
              </a:rPr>
              <a:t>ROUTES</a:t>
            </a:r>
          </a:p>
        </p:txBody>
      </p:sp>
    </p:spTree>
    <p:extLst>
      <p:ext uri="{BB962C8B-B14F-4D97-AF65-F5344CB8AC3E}">
        <p14:creationId xmlns:p14="http://schemas.microsoft.com/office/powerpoint/2010/main" val="32757507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4" name="Picture 3" descr="A screen shot of a computer&#10;&#10;Description automatically generated">
            <a:extLst>
              <a:ext uri="{FF2B5EF4-FFF2-40B4-BE49-F238E27FC236}">
                <a16:creationId xmlns:a16="http://schemas.microsoft.com/office/drawing/2014/main" id="{43C7E7E7-3CCA-5F48-A7E3-89214AC56EC9}"/>
              </a:ext>
            </a:extLst>
          </p:cNvPr>
          <p:cNvPicPr>
            <a:picLocks noChangeAspect="1"/>
          </p:cNvPicPr>
          <p:nvPr/>
        </p:nvPicPr>
        <p:blipFill>
          <a:blip r:embed="rId3"/>
          <a:stretch>
            <a:fillRect/>
          </a:stretch>
        </p:blipFill>
        <p:spPr>
          <a:xfrm>
            <a:off x="3093131" y="3747296"/>
            <a:ext cx="2943222" cy="1421098"/>
          </a:xfrm>
          <a:prstGeom prst="rect">
            <a:avLst/>
          </a:prstGeom>
        </p:spPr>
      </p:pic>
      <p:pic>
        <p:nvPicPr>
          <p:cNvPr id="8" name="Picture 7" descr="A screenshot of a cell phone&#10;&#10;Description automatically generated">
            <a:extLst>
              <a:ext uri="{FF2B5EF4-FFF2-40B4-BE49-F238E27FC236}">
                <a16:creationId xmlns:a16="http://schemas.microsoft.com/office/drawing/2014/main" id="{4DF95B58-12DA-424B-8B4B-DB18BBCB42F9}"/>
              </a:ext>
            </a:extLst>
          </p:cNvPr>
          <p:cNvPicPr>
            <a:picLocks noChangeAspect="1"/>
          </p:cNvPicPr>
          <p:nvPr/>
        </p:nvPicPr>
        <p:blipFill>
          <a:blip r:embed="rId4"/>
          <a:stretch>
            <a:fillRect/>
          </a:stretch>
        </p:blipFill>
        <p:spPr>
          <a:xfrm>
            <a:off x="301355" y="3973058"/>
            <a:ext cx="2639553" cy="1190228"/>
          </a:xfrm>
          <a:prstGeom prst="rect">
            <a:avLst/>
          </a:prstGeom>
        </p:spPr>
      </p:pic>
      <p:pic>
        <p:nvPicPr>
          <p:cNvPr id="10" name="Picture 9" descr="A picture containing sitting, holding, drawing, clock&#10;&#10;Description automatically generated">
            <a:extLst>
              <a:ext uri="{FF2B5EF4-FFF2-40B4-BE49-F238E27FC236}">
                <a16:creationId xmlns:a16="http://schemas.microsoft.com/office/drawing/2014/main" id="{4BEC855A-9AE0-DA4B-96CA-AF5EF09A6615}"/>
              </a:ext>
            </a:extLst>
          </p:cNvPr>
          <p:cNvPicPr>
            <a:picLocks noChangeAspect="1"/>
          </p:cNvPicPr>
          <p:nvPr/>
        </p:nvPicPr>
        <p:blipFill>
          <a:blip r:embed="rId5"/>
          <a:stretch>
            <a:fillRect/>
          </a:stretch>
        </p:blipFill>
        <p:spPr>
          <a:xfrm>
            <a:off x="7897523" y="3847706"/>
            <a:ext cx="2409056" cy="830709"/>
          </a:xfrm>
          <a:prstGeom prst="rect">
            <a:avLst/>
          </a:prstGeom>
        </p:spPr>
      </p:pic>
      <p:pic>
        <p:nvPicPr>
          <p:cNvPr id="12" name="Picture 11" descr="A screenshot of a computer screen&#10;&#10;Description automatically generated">
            <a:extLst>
              <a:ext uri="{FF2B5EF4-FFF2-40B4-BE49-F238E27FC236}">
                <a16:creationId xmlns:a16="http://schemas.microsoft.com/office/drawing/2014/main" id="{77139F35-3DE9-D544-8451-93A06BD7075C}"/>
              </a:ext>
            </a:extLst>
          </p:cNvPr>
          <p:cNvPicPr>
            <a:picLocks noChangeAspect="1"/>
          </p:cNvPicPr>
          <p:nvPr/>
        </p:nvPicPr>
        <p:blipFill>
          <a:blip r:embed="rId6"/>
          <a:stretch>
            <a:fillRect/>
          </a:stretch>
        </p:blipFill>
        <p:spPr>
          <a:xfrm>
            <a:off x="6632028" y="41371"/>
            <a:ext cx="5241564" cy="3409633"/>
          </a:xfrm>
          <a:prstGeom prst="rect">
            <a:avLst/>
          </a:prstGeom>
        </p:spPr>
      </p:pic>
      <p:pic>
        <p:nvPicPr>
          <p:cNvPr id="14" name="Picture 13" descr="A close up of a screen&#10;&#10;Description automatically generated">
            <a:extLst>
              <a:ext uri="{FF2B5EF4-FFF2-40B4-BE49-F238E27FC236}">
                <a16:creationId xmlns:a16="http://schemas.microsoft.com/office/drawing/2014/main" id="{5BA73B52-BC9B-CD46-A6F7-0563EA21A6EF}"/>
              </a:ext>
            </a:extLst>
          </p:cNvPr>
          <p:cNvPicPr>
            <a:picLocks noChangeAspect="1"/>
          </p:cNvPicPr>
          <p:nvPr/>
        </p:nvPicPr>
        <p:blipFill>
          <a:blip r:embed="rId7"/>
          <a:stretch>
            <a:fillRect/>
          </a:stretch>
        </p:blipFill>
        <p:spPr>
          <a:xfrm>
            <a:off x="6150895" y="5003547"/>
            <a:ext cx="5549900" cy="1416996"/>
          </a:xfrm>
          <a:prstGeom prst="rect">
            <a:avLst/>
          </a:prstGeom>
        </p:spPr>
      </p:pic>
      <p:pic>
        <p:nvPicPr>
          <p:cNvPr id="16" name="Picture 15" descr="A close up of a screen&#10;&#10;Description automatically generated">
            <a:extLst>
              <a:ext uri="{FF2B5EF4-FFF2-40B4-BE49-F238E27FC236}">
                <a16:creationId xmlns:a16="http://schemas.microsoft.com/office/drawing/2014/main" id="{7940AD9A-FFE3-A240-A469-B231CDAF2F6E}"/>
              </a:ext>
            </a:extLst>
          </p:cNvPr>
          <p:cNvPicPr>
            <a:picLocks noChangeAspect="1"/>
          </p:cNvPicPr>
          <p:nvPr/>
        </p:nvPicPr>
        <p:blipFill>
          <a:blip r:embed="rId8"/>
          <a:stretch>
            <a:fillRect/>
          </a:stretch>
        </p:blipFill>
        <p:spPr>
          <a:xfrm>
            <a:off x="575287" y="5417287"/>
            <a:ext cx="5235608" cy="1134652"/>
          </a:xfrm>
          <a:prstGeom prst="rect">
            <a:avLst/>
          </a:prstGeom>
        </p:spPr>
      </p:pic>
      <p:pic>
        <p:nvPicPr>
          <p:cNvPr id="18" name="Picture 17" descr="A screenshot of a cell phone&#10;&#10;Description automatically generated">
            <a:extLst>
              <a:ext uri="{FF2B5EF4-FFF2-40B4-BE49-F238E27FC236}">
                <a16:creationId xmlns:a16="http://schemas.microsoft.com/office/drawing/2014/main" id="{C3DB3EF1-F674-B84C-9C7D-5A2452A7E603}"/>
              </a:ext>
            </a:extLst>
          </p:cNvPr>
          <p:cNvPicPr>
            <a:picLocks noChangeAspect="1"/>
          </p:cNvPicPr>
          <p:nvPr/>
        </p:nvPicPr>
        <p:blipFill>
          <a:blip r:embed="rId9"/>
          <a:stretch>
            <a:fillRect/>
          </a:stretch>
        </p:blipFill>
        <p:spPr>
          <a:xfrm>
            <a:off x="999782" y="41371"/>
            <a:ext cx="4727031" cy="3032572"/>
          </a:xfrm>
          <a:prstGeom prst="rect">
            <a:avLst/>
          </a:prstGeom>
        </p:spPr>
      </p:pic>
      <p:sp>
        <p:nvSpPr>
          <p:cNvPr id="19" name="Title 1">
            <a:extLst>
              <a:ext uri="{FF2B5EF4-FFF2-40B4-BE49-F238E27FC236}">
                <a16:creationId xmlns:a16="http://schemas.microsoft.com/office/drawing/2014/main" id="{DD6E25CB-D815-274A-828B-DAC197D78C89}"/>
              </a:ext>
            </a:extLst>
          </p:cNvPr>
          <p:cNvSpPr>
            <a:spLocks noGrp="1"/>
          </p:cNvSpPr>
          <p:nvPr>
            <p:ph type="title"/>
          </p:nvPr>
        </p:nvSpPr>
        <p:spPr>
          <a:xfrm>
            <a:off x="220362" y="2960044"/>
            <a:ext cx="2720546" cy="1325563"/>
          </a:xfrm>
        </p:spPr>
        <p:txBody>
          <a:bodyPr/>
          <a:lstStyle/>
          <a:p>
            <a:pPr algn="ctr"/>
            <a:r>
              <a:rPr lang="en-US" dirty="0">
                <a:latin typeface="Abril Fatface" panose="02000503000000020003" pitchFamily="2" charset="77"/>
              </a:rPr>
              <a:t>MODELS</a:t>
            </a:r>
          </a:p>
        </p:txBody>
      </p:sp>
    </p:spTree>
    <p:extLst>
      <p:ext uri="{BB962C8B-B14F-4D97-AF65-F5344CB8AC3E}">
        <p14:creationId xmlns:p14="http://schemas.microsoft.com/office/powerpoint/2010/main" val="42837862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8" name="Picture 7" descr="A screenshot of a social media post&#10;&#10;Description automatically generated">
            <a:extLst>
              <a:ext uri="{FF2B5EF4-FFF2-40B4-BE49-F238E27FC236}">
                <a16:creationId xmlns:a16="http://schemas.microsoft.com/office/drawing/2014/main" id="{17617414-A4D4-5449-B195-1F313D0CF609}"/>
              </a:ext>
            </a:extLst>
          </p:cNvPr>
          <p:cNvPicPr>
            <a:picLocks noChangeAspect="1"/>
          </p:cNvPicPr>
          <p:nvPr/>
        </p:nvPicPr>
        <p:blipFill>
          <a:blip r:embed="rId3"/>
          <a:stretch>
            <a:fillRect/>
          </a:stretch>
        </p:blipFill>
        <p:spPr>
          <a:xfrm>
            <a:off x="1259995" y="897714"/>
            <a:ext cx="9244608" cy="5931552"/>
          </a:xfrm>
          <a:prstGeom prst="rect">
            <a:avLst/>
          </a:prstGeom>
          <a:ln>
            <a:solidFill>
              <a:schemeClr val="tx1"/>
            </a:solidFill>
          </a:ln>
        </p:spPr>
      </p:pic>
      <p:sp>
        <p:nvSpPr>
          <p:cNvPr id="10" name="Title 1">
            <a:extLst>
              <a:ext uri="{FF2B5EF4-FFF2-40B4-BE49-F238E27FC236}">
                <a16:creationId xmlns:a16="http://schemas.microsoft.com/office/drawing/2014/main" id="{5B135F41-BEE8-D547-B0E2-D684024385BB}"/>
              </a:ext>
            </a:extLst>
          </p:cNvPr>
          <p:cNvSpPr>
            <a:spLocks noGrp="1"/>
          </p:cNvSpPr>
          <p:nvPr>
            <p:ph type="title"/>
          </p:nvPr>
        </p:nvSpPr>
        <p:spPr>
          <a:xfrm>
            <a:off x="2511616" y="-114075"/>
            <a:ext cx="6579831" cy="1325563"/>
          </a:xfrm>
        </p:spPr>
        <p:txBody>
          <a:bodyPr/>
          <a:lstStyle/>
          <a:p>
            <a:pPr algn="ctr"/>
            <a:r>
              <a:rPr lang="en-US" dirty="0">
                <a:latin typeface="Abril Fatface" panose="02000503000000020003" pitchFamily="2" charset="77"/>
              </a:rPr>
              <a:t>Site Walkthrough</a:t>
            </a:r>
          </a:p>
        </p:txBody>
      </p:sp>
    </p:spTree>
    <p:extLst>
      <p:ext uri="{BB962C8B-B14F-4D97-AF65-F5344CB8AC3E}">
        <p14:creationId xmlns:p14="http://schemas.microsoft.com/office/powerpoint/2010/main" val="3911079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10" name="Picture 9" descr="A screenshot of a cell phone&#10;&#10;Description automatically generated">
            <a:extLst>
              <a:ext uri="{FF2B5EF4-FFF2-40B4-BE49-F238E27FC236}">
                <a16:creationId xmlns:a16="http://schemas.microsoft.com/office/drawing/2014/main" id="{C6247493-3759-1E40-B3CC-6A76C1DDCBA2}"/>
              </a:ext>
            </a:extLst>
          </p:cNvPr>
          <p:cNvPicPr>
            <a:picLocks noChangeAspect="1"/>
          </p:cNvPicPr>
          <p:nvPr/>
        </p:nvPicPr>
        <p:blipFill>
          <a:blip r:embed="rId3"/>
          <a:stretch>
            <a:fillRect/>
          </a:stretch>
        </p:blipFill>
        <p:spPr>
          <a:xfrm>
            <a:off x="274894" y="365125"/>
            <a:ext cx="7251854" cy="4783138"/>
          </a:xfrm>
          <a:prstGeom prst="rect">
            <a:avLst/>
          </a:prstGeom>
          <a:ln>
            <a:solidFill>
              <a:schemeClr val="tx1"/>
            </a:solidFill>
          </a:ln>
        </p:spPr>
      </p:pic>
      <p:pic>
        <p:nvPicPr>
          <p:cNvPr id="12" name="Picture 11" descr="A screenshot of a cell phone&#10;&#10;Description automatically generated">
            <a:extLst>
              <a:ext uri="{FF2B5EF4-FFF2-40B4-BE49-F238E27FC236}">
                <a16:creationId xmlns:a16="http://schemas.microsoft.com/office/drawing/2014/main" id="{ED87285D-1684-FC49-85E5-11876A67FCDC}"/>
              </a:ext>
            </a:extLst>
          </p:cNvPr>
          <p:cNvPicPr>
            <a:picLocks noChangeAspect="1"/>
          </p:cNvPicPr>
          <p:nvPr/>
        </p:nvPicPr>
        <p:blipFill>
          <a:blip r:embed="rId4"/>
          <a:stretch>
            <a:fillRect/>
          </a:stretch>
        </p:blipFill>
        <p:spPr>
          <a:xfrm>
            <a:off x="5120471" y="2245302"/>
            <a:ext cx="6294096" cy="4287886"/>
          </a:xfrm>
          <a:prstGeom prst="rect">
            <a:avLst/>
          </a:prstGeom>
          <a:ln>
            <a:solidFill>
              <a:schemeClr val="tx1"/>
            </a:solidFill>
          </a:ln>
        </p:spPr>
      </p:pic>
    </p:spTree>
    <p:extLst>
      <p:ext uri="{BB962C8B-B14F-4D97-AF65-F5344CB8AC3E}">
        <p14:creationId xmlns:p14="http://schemas.microsoft.com/office/powerpoint/2010/main" val="36262730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7" name="Picture 6" descr="A screenshot of a cell phone&#10;&#10;Description automatically generated">
            <a:extLst>
              <a:ext uri="{FF2B5EF4-FFF2-40B4-BE49-F238E27FC236}">
                <a16:creationId xmlns:a16="http://schemas.microsoft.com/office/drawing/2014/main" id="{17E89E42-ECC7-EE43-8D1C-DF3E183C5573}"/>
              </a:ext>
            </a:extLst>
          </p:cNvPr>
          <p:cNvPicPr>
            <a:picLocks noChangeAspect="1"/>
          </p:cNvPicPr>
          <p:nvPr/>
        </p:nvPicPr>
        <p:blipFill>
          <a:blip r:embed="rId3"/>
          <a:stretch>
            <a:fillRect/>
          </a:stretch>
        </p:blipFill>
        <p:spPr>
          <a:xfrm>
            <a:off x="259063" y="348009"/>
            <a:ext cx="6923739" cy="4504531"/>
          </a:xfrm>
          <a:prstGeom prst="rect">
            <a:avLst/>
          </a:prstGeom>
          <a:ln>
            <a:solidFill>
              <a:schemeClr val="tx1"/>
            </a:solidFill>
          </a:ln>
        </p:spPr>
      </p:pic>
      <p:pic>
        <p:nvPicPr>
          <p:cNvPr id="8" name="Picture 7" descr="A screenshot of a cell phone&#10;&#10;Description automatically generated">
            <a:extLst>
              <a:ext uri="{FF2B5EF4-FFF2-40B4-BE49-F238E27FC236}">
                <a16:creationId xmlns:a16="http://schemas.microsoft.com/office/drawing/2014/main" id="{28BEE778-6126-694B-9419-AED45DDAB334}"/>
              </a:ext>
            </a:extLst>
          </p:cNvPr>
          <p:cNvPicPr>
            <a:picLocks noChangeAspect="1"/>
          </p:cNvPicPr>
          <p:nvPr/>
        </p:nvPicPr>
        <p:blipFill>
          <a:blip r:embed="rId4"/>
          <a:stretch>
            <a:fillRect/>
          </a:stretch>
        </p:blipFill>
        <p:spPr>
          <a:xfrm>
            <a:off x="6047899" y="1758604"/>
            <a:ext cx="5836937" cy="4197797"/>
          </a:xfrm>
          <a:prstGeom prst="rect">
            <a:avLst/>
          </a:prstGeom>
          <a:ln>
            <a:solidFill>
              <a:schemeClr val="tx1"/>
            </a:solidFill>
          </a:ln>
        </p:spPr>
      </p:pic>
    </p:spTree>
    <p:extLst>
      <p:ext uri="{BB962C8B-B14F-4D97-AF65-F5344CB8AC3E}">
        <p14:creationId xmlns:p14="http://schemas.microsoft.com/office/powerpoint/2010/main" val="26818783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7" name="Picture 6" descr="A screenshot of a cell phone&#10;&#10;Description automatically generated">
            <a:extLst>
              <a:ext uri="{FF2B5EF4-FFF2-40B4-BE49-F238E27FC236}">
                <a16:creationId xmlns:a16="http://schemas.microsoft.com/office/drawing/2014/main" id="{BEBE95B8-DAEA-C14F-876C-88930A0C2A8B}"/>
              </a:ext>
            </a:extLst>
          </p:cNvPr>
          <p:cNvPicPr>
            <a:picLocks noChangeAspect="1"/>
          </p:cNvPicPr>
          <p:nvPr/>
        </p:nvPicPr>
        <p:blipFill>
          <a:blip r:embed="rId3"/>
          <a:stretch>
            <a:fillRect/>
          </a:stretch>
        </p:blipFill>
        <p:spPr>
          <a:xfrm>
            <a:off x="783946" y="0"/>
            <a:ext cx="5932221" cy="3956397"/>
          </a:xfrm>
          <a:prstGeom prst="rect">
            <a:avLst/>
          </a:prstGeom>
          <a:ln>
            <a:solidFill>
              <a:schemeClr val="tx1"/>
            </a:solidFill>
          </a:ln>
        </p:spPr>
      </p:pic>
      <p:pic>
        <p:nvPicPr>
          <p:cNvPr id="8" name="Picture 7" descr="A screenshot of a cell phone&#10;&#10;Description automatically generated">
            <a:extLst>
              <a:ext uri="{FF2B5EF4-FFF2-40B4-BE49-F238E27FC236}">
                <a16:creationId xmlns:a16="http://schemas.microsoft.com/office/drawing/2014/main" id="{7C512165-82F5-2645-9185-2F04CB022899}"/>
              </a:ext>
            </a:extLst>
          </p:cNvPr>
          <p:cNvPicPr>
            <a:picLocks noChangeAspect="1"/>
          </p:cNvPicPr>
          <p:nvPr/>
        </p:nvPicPr>
        <p:blipFill rotWithShape="1">
          <a:blip r:embed="rId4"/>
          <a:srcRect t="38362"/>
          <a:stretch/>
        </p:blipFill>
        <p:spPr>
          <a:xfrm>
            <a:off x="546606" y="4109421"/>
            <a:ext cx="6304993" cy="2748579"/>
          </a:xfrm>
          <a:prstGeom prst="rect">
            <a:avLst/>
          </a:prstGeom>
          <a:ln>
            <a:solidFill>
              <a:schemeClr val="tx1"/>
            </a:solidFill>
          </a:ln>
        </p:spPr>
      </p:pic>
      <p:pic>
        <p:nvPicPr>
          <p:cNvPr id="9" name="Picture 8" descr="A screenshot of a cell phone&#10;&#10;Description automatically generated">
            <a:extLst>
              <a:ext uri="{FF2B5EF4-FFF2-40B4-BE49-F238E27FC236}">
                <a16:creationId xmlns:a16="http://schemas.microsoft.com/office/drawing/2014/main" id="{5FFE6110-D71B-9B4E-B4E0-716BB2AADA3C}"/>
              </a:ext>
            </a:extLst>
          </p:cNvPr>
          <p:cNvPicPr>
            <a:picLocks noChangeAspect="1"/>
          </p:cNvPicPr>
          <p:nvPr/>
        </p:nvPicPr>
        <p:blipFill rotWithShape="1">
          <a:blip r:embed="rId5"/>
          <a:srcRect l="9329" r="11878"/>
          <a:stretch/>
        </p:blipFill>
        <p:spPr>
          <a:xfrm>
            <a:off x="7085787" y="669702"/>
            <a:ext cx="4736593" cy="4648200"/>
          </a:xfrm>
          <a:prstGeom prst="rect">
            <a:avLst/>
          </a:prstGeom>
          <a:ln>
            <a:solidFill>
              <a:schemeClr val="tx1"/>
            </a:solidFill>
          </a:ln>
        </p:spPr>
      </p:pic>
    </p:spTree>
    <p:extLst>
      <p:ext uri="{BB962C8B-B14F-4D97-AF65-F5344CB8AC3E}">
        <p14:creationId xmlns:p14="http://schemas.microsoft.com/office/powerpoint/2010/main" val="10018360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picture containing water, mountain, large, street&#10;&#10;Description automatically generated">
            <a:extLst>
              <a:ext uri="{FF2B5EF4-FFF2-40B4-BE49-F238E27FC236}">
                <a16:creationId xmlns:a16="http://schemas.microsoft.com/office/drawing/2014/main" id="{EB0DD709-09D8-7F4D-A3AC-DC2E6EFDDA9E}"/>
              </a:ext>
            </a:extLst>
          </p:cNvPr>
          <p:cNvPicPr>
            <a:picLocks noChangeAspect="1"/>
          </p:cNvPicPr>
          <p:nvPr/>
        </p:nvPicPr>
        <p:blipFill>
          <a:blip r:embed="rId2">
            <a:alphaModFix amt="58000"/>
          </a:blip>
          <a:stretch>
            <a:fillRect/>
          </a:stretch>
        </p:blipFill>
        <p:spPr>
          <a:xfrm>
            <a:off x="0" y="1027906"/>
            <a:ext cx="12192000" cy="1632297"/>
          </a:xfrm>
          <a:prstGeom prst="rect">
            <a:avLst/>
          </a:prstGeom>
        </p:spPr>
      </p:pic>
      <p:pic>
        <p:nvPicPr>
          <p:cNvPr id="7" name="Picture 6" descr="A screenshot of a social media post&#10;&#10;Description automatically generated">
            <a:extLst>
              <a:ext uri="{FF2B5EF4-FFF2-40B4-BE49-F238E27FC236}">
                <a16:creationId xmlns:a16="http://schemas.microsoft.com/office/drawing/2014/main" id="{6903B6A5-E06F-4E4E-8C5A-A0FE3893AF6C}"/>
              </a:ext>
            </a:extLst>
          </p:cNvPr>
          <p:cNvPicPr>
            <a:picLocks noChangeAspect="1"/>
          </p:cNvPicPr>
          <p:nvPr/>
        </p:nvPicPr>
        <p:blipFill>
          <a:blip r:embed="rId3"/>
          <a:stretch>
            <a:fillRect/>
          </a:stretch>
        </p:blipFill>
        <p:spPr>
          <a:xfrm>
            <a:off x="600688" y="231154"/>
            <a:ext cx="6231912" cy="3725982"/>
          </a:xfrm>
          <a:prstGeom prst="rect">
            <a:avLst/>
          </a:prstGeom>
          <a:ln>
            <a:solidFill>
              <a:schemeClr val="tx1"/>
            </a:solidFill>
          </a:ln>
        </p:spPr>
      </p:pic>
      <p:pic>
        <p:nvPicPr>
          <p:cNvPr id="4" name="Picture 3" descr="A screenshot of a cell phone&#10;&#10;Description automatically generated">
            <a:extLst>
              <a:ext uri="{FF2B5EF4-FFF2-40B4-BE49-F238E27FC236}">
                <a16:creationId xmlns:a16="http://schemas.microsoft.com/office/drawing/2014/main" id="{60453BE4-5692-3A42-A644-FC247E3132D1}"/>
              </a:ext>
            </a:extLst>
          </p:cNvPr>
          <p:cNvPicPr>
            <a:picLocks noChangeAspect="1"/>
          </p:cNvPicPr>
          <p:nvPr/>
        </p:nvPicPr>
        <p:blipFill>
          <a:blip r:embed="rId4"/>
          <a:stretch>
            <a:fillRect/>
          </a:stretch>
        </p:blipFill>
        <p:spPr>
          <a:xfrm>
            <a:off x="5467350" y="1914333"/>
            <a:ext cx="5651754" cy="4085606"/>
          </a:xfrm>
          <a:prstGeom prst="rect">
            <a:avLst/>
          </a:prstGeom>
          <a:ln>
            <a:solidFill>
              <a:schemeClr val="tx1"/>
            </a:solidFill>
          </a:ln>
        </p:spPr>
      </p:pic>
    </p:spTree>
    <p:extLst>
      <p:ext uri="{BB962C8B-B14F-4D97-AF65-F5344CB8AC3E}">
        <p14:creationId xmlns:p14="http://schemas.microsoft.com/office/powerpoint/2010/main" val="306211603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328</TotalTime>
  <Words>178</Words>
  <Application>Microsoft Macintosh PowerPoint</Application>
  <PresentationFormat>Widescreen</PresentationFormat>
  <Paragraphs>26</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Abril Fatface</vt:lpstr>
      <vt:lpstr>Andale Mono</vt:lpstr>
      <vt:lpstr>Arial</vt:lpstr>
      <vt:lpstr>Calibri</vt:lpstr>
      <vt:lpstr>Calibri Light</vt:lpstr>
      <vt:lpstr>Office Theme</vt:lpstr>
      <vt:lpstr>YOUR THRIFT CO. </vt:lpstr>
      <vt:lpstr>WHY?</vt:lpstr>
      <vt:lpstr>HOW?</vt:lpstr>
      <vt:lpstr>ERD</vt:lpstr>
      <vt:lpstr>SITEMAP</vt:lpstr>
      <vt:lpstr>PowerPoint Presentation</vt:lpstr>
      <vt:lpstr>MODELS</vt:lpstr>
      <vt:lpstr>Site Walkthrough</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YOUR THRIFT CO. </dc:title>
  <dc:creator>Leanne Druhan</dc:creator>
  <cp:lastModifiedBy>Leanne Druhan</cp:lastModifiedBy>
  <cp:revision>8</cp:revision>
  <dcterms:created xsi:type="dcterms:W3CDTF">2020-08-11T01:26:01Z</dcterms:created>
  <dcterms:modified xsi:type="dcterms:W3CDTF">2020-08-11T06:54:33Z</dcterms:modified>
</cp:coreProperties>
</file>